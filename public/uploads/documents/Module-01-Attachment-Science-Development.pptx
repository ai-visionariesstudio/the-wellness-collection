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-548640"/>
            <a:ext cx="2560320" cy="2560320"/>
          </a:xfrm>
          <a:prstGeom prst="ellipse">
            <a:avLst/>
          </a:prstGeom>
          <a:solidFill>
            <a:srgbClr val="D1C8BF">
              <a:alpha val="3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657600"/>
            <a:ext cx="2011680" cy="2011680"/>
          </a:xfrm>
          <a:prstGeom prst="ellipse">
            <a:avLst/>
          </a:prstGeom>
          <a:solidFill>
            <a:srgbClr val="D1C8BF">
              <a:alpha val="25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1371600" cy="1371600"/>
          </a:xfrm>
          <a:prstGeom prst="ellipse">
            <a:avLst/>
          </a:prstGeom>
          <a:solidFill>
            <a:srgbClr val="EDE0DC">
              <a:alpha val="20000"/>
            </a:srgbClr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274320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REDEFINED  |  WELLNESS CONNECTION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Attachment Science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Development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D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Earliest Relationships Shaped Everything That Followed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Explore Together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20624" cy="420624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3502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of attachment — Bowlby, Ainsworth, Main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020824"/>
            <a:ext cx="420624" cy="420624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20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299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Translation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249424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means through a clinical lens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715768"/>
            <a:ext cx="420624" cy="420624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2491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Real-Life Application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94436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attachment patterns show up in everyday relationships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410712"/>
            <a:ext cx="420624" cy="420624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1985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Reflective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63931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lens inward — your own relational story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105656"/>
            <a:ext cx="420624" cy="420624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05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11480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Movement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334256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with hope, direction, and earned awareness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1C8B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knew what love was —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were already learning</a:t>
            </a:r>
            <a:endParaRPr lang="en-US" sz="28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800" i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expect from it.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0" y="3566160"/>
            <a:ext cx="1463040" cy="457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reflection to carry with you through this module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Attachment Matters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8138160" cy="749808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63040"/>
            <a:ext cx="54864" cy="749808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is not a theory about childhood. It is a theory about the entire human lifespan.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1381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68880"/>
            <a:ext cx="54864" cy="749808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6888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earliest caregiving relationship became the template through which you interpret all relationships that followed.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474720"/>
            <a:ext cx="8138160" cy="749808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474720"/>
            <a:ext cx="54864" cy="749808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47472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attachment is understanding the root — not the symptom.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 — BOWLBY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3108960" cy="4251960"/>
          </a:xfrm>
          <a:prstGeom prst="rect">
            <a:avLst/>
          </a:prstGeom>
          <a:solidFill>
            <a:srgbClr val="4A3F38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731520"/>
            <a:ext cx="2743200" cy="2743200"/>
          </a:xfrm>
          <a:prstGeom prst="ellipse">
            <a:avLst/>
          </a:prstGeom>
          <a:solidFill>
            <a:srgbClr val="D1C8BF">
              <a:alpha val="15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Bowlby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1907 – 1990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395728"/>
            <a:ext cx="2286000" cy="36576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Psychiatrist &amp;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Psychoanalyst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of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Theory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594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Contributions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49040" y="1097280"/>
            <a:ext cx="5120640" cy="105156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1887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Base Concept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86200" y="14813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 serves as a safe haven from which a child explores the world.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2331720"/>
            <a:ext cx="5120640" cy="1051560"/>
          </a:xfrm>
          <a:prstGeom prst="rect">
            <a:avLst/>
          </a:prstGeom>
          <a:solidFill>
            <a:srgbClr val="EDE0DC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2423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Proximity Seeking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27157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behaviors — crying, clinging — are biological survival drives, not weakness.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3566160"/>
            <a:ext cx="5120640" cy="105156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657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Working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395020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 builds a relational blueprint from early caregiving that guides all future relationships.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Attachment as Survival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Science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is biological, not emotional weakness.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8775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 is the infant's entire world — safety, food, warmth, and regulation all live in one person.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39242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Proximity-seeking behaviors evolved because closeness to a caregiver = survival.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023360" cy="3474720"/>
          </a:xfrm>
          <a:prstGeom prst="rect">
            <a:avLst/>
          </a:prstGeom>
          <a:solidFill>
            <a:srgbClr val="4A3F38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1554480"/>
            <a:ext cx="2011680" cy="201168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Secure 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697480"/>
            <a:ext cx="1737360" cy="54864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5041" y="2499607"/>
            <a:ext cx="1005840" cy="329184"/>
          </a:xfrm>
          <a:prstGeom prst="ellipse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5041" y="2499607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Haven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5041" y="3663449"/>
            <a:ext cx="1005840" cy="329184"/>
          </a:xfrm>
          <a:prstGeom prst="ellipse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5041" y="3663449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Base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979279" y="3663449"/>
            <a:ext cx="1005840" cy="329184"/>
          </a:xfrm>
          <a:prstGeom prst="ellipse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9279" y="3663449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79279" y="2499607"/>
            <a:ext cx="1005840" cy="329184"/>
          </a:xfrm>
          <a:prstGeom prst="ellipse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9279" y="2499607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 — AINSWORTH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Mary Ainsworth &amp; The Strange Situation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1913 – 1999  |  Developmental Psychologist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931920" cy="3429000"/>
          </a:xfrm>
          <a:prstGeom prst="rect">
            <a:avLst/>
          </a:prstGeom>
          <a:solidFill>
            <a:srgbClr val="4A3F38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993392"/>
            <a:ext cx="274320" cy="274320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9933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and caregiver in unfamiliar room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505456"/>
            <a:ext cx="274320" cy="274320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5054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enters and interacts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017520"/>
            <a:ext cx="274320" cy="274320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0175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leaves — infant alone with stranger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529584"/>
            <a:ext cx="274320" cy="274320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5295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returns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4041648"/>
            <a:ext cx="274320" cy="274320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40416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Infant's response carefully observed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1371600"/>
            <a:ext cx="4206240" cy="342900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Revealed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965960"/>
            <a:ext cx="640080" cy="25603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965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3440" y="22494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Distressed when caregiver left. Comforted quickly upon return. Caregiver as safe haven.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880360"/>
            <a:ext cx="640080" cy="25603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880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63440" y="31638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distressed. Difficult to soothe. Preoccupied with caregiver's availability.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794760"/>
            <a:ext cx="640080" cy="25603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794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63440" y="40782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distress shown. Ignored caregiver on return. Learned not to express need.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 — MAIN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Mary Main &amp; The Adult Attachment Interview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207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Psychologist  |  UC Berkeley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2724912" cy="320040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00200"/>
            <a:ext cx="2724912" cy="54864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Discovery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24505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attachment patterns don't disappear. They migrate into adulthood, shaping how we parent, love, and even how we narrate our own childhood.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1600200"/>
            <a:ext cx="2724912" cy="3200400"/>
          </a:xfrm>
          <a:prstGeom prst="rect">
            <a:avLst/>
          </a:prstGeom>
          <a:solidFill>
            <a:srgbClr val="4A3F38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600200"/>
            <a:ext cx="2724912" cy="54864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73736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194560"/>
            <a:ext cx="24505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Adult Attachment Interview revealed that HOW adults talk about childhood — not just what happened — predicts how their own children will attach to them.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27064" y="1600200"/>
            <a:ext cx="2724912" cy="320040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1600200"/>
            <a:ext cx="2724912" cy="54864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73736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Fourth Style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4224" y="2194560"/>
            <a:ext cx="245059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identified Disorganized Attachment — when the caregiver is simultaneously the source of fear and the desired source of comfort.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D1C8BF">
              <a:alpha val="12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EDE0DC">
              <a:alpha val="12000"/>
            </a:srgbClr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Internal Working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brain's relational blueprint — built before you had words for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6576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64208"/>
            <a:ext cx="2715768" cy="3108960"/>
          </a:xfrm>
          <a:prstGeom prst="rect">
            <a:avLst/>
          </a:prstGeom>
          <a:solidFill>
            <a:srgbClr val="3A3028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737360"/>
            <a:ext cx="914400" cy="91440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2715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24414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worthy of love and care?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1664208"/>
            <a:ext cx="2715768" cy="3108960"/>
          </a:xfrm>
          <a:prstGeom prst="rect">
            <a:avLst/>
          </a:prstGeom>
          <a:solidFill>
            <a:srgbClr val="4D433B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737360"/>
            <a:ext cx="914400" cy="91440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874520"/>
            <a:ext cx="2715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93008" y="2788920"/>
            <a:ext cx="24414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people safe, reliable, available?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664208"/>
            <a:ext cx="2715768" cy="3108960"/>
          </a:xfrm>
          <a:prstGeom prst="rect">
            <a:avLst/>
          </a:prstGeom>
          <a:solidFill>
            <a:srgbClr val="5C524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68896" y="1737360"/>
            <a:ext cx="914400" cy="91440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874520"/>
            <a:ext cx="2715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91656" y="2788920"/>
            <a:ext cx="244144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world a place I can trust?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answers — formed in infancy — become automatic. They run beneath conscious awareness.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D1C8BF">
              <a:alpha val="18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1C8B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Attachment is not a personality trait.</a:t>
            </a:r>
            <a:endParaRPr lang="en-US" sz="3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an adaptive response</a:t>
            </a:r>
            <a:endParaRPr lang="en-US" sz="3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0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environment.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0" y="3657600"/>
            <a:ext cx="2194560" cy="457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Finding  |  Attachment Theory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means: you are not broken. You are adapted.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200400" cy="3200400"/>
          </a:xfrm>
          <a:prstGeom prst="ellipse">
            <a:avLst/>
          </a:prstGeom>
          <a:solidFill>
            <a:srgbClr val="EDE0DC">
              <a:alpha val="40000"/>
            </a:srgbClr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what does this mean...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...for the relationships you are in right now?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114800" cy="457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 now from the research into the lived experience.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TRANSLATION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TRANSLATION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Blueprint in 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8321040" cy="100584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100584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Lens of Self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with anxious attachment may hear "I need space" and interpret it as "You are too much." The blueprint — not the message — writes the meaning.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83210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560320"/>
            <a:ext cx="54864" cy="100584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Lens of Others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44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with avoidant attachment may pull back when a partner gets emotionally close — not because they don't care, but because closeness once felt unsafe.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749040"/>
            <a:ext cx="8321040" cy="100584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749040"/>
            <a:ext cx="54864" cy="100584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Lens of World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13308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Disorganized attachment can create a world where love and fear arrive together — making intimacy both deeply desired and deeply frightening.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TRANSLATION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vs. Secondary Attachment Figures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3520440"/>
          </a:xfrm>
          <a:prstGeom prst="rect">
            <a:avLst/>
          </a:prstGeom>
          <a:solidFill>
            <a:srgbClr val="4A3F38"/>
          </a:solidFill>
          <a:ln w="12700">
            <a:solidFill>
              <a:srgbClr val="4A3F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Figure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267712"/>
            <a:ext cx="3200400" cy="36576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77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 parent or primary caregiver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the first years of life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greatest influence on the internal working model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most studied in attachment research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6280" y="1325880"/>
            <a:ext cx="4206240" cy="3520440"/>
          </a:xfrm>
          <a:prstGeom prst="rect">
            <a:avLst/>
          </a:prstGeom>
          <a:solidFill>
            <a:srgbClr val="F4EFEA"/>
          </a:solidFill>
          <a:ln w="6350">
            <a:solidFill>
              <a:srgbClr val="D1C8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Figures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267712"/>
            <a:ext cx="3657600" cy="36576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Siblings, grandparents, close relatives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9077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Teachers, coaches, mentors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34381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friends and romantic partners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9684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provide corrective relational experiences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EDE0DC">
              <a:alpha val="35000"/>
            </a:srgbClr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Attachment Is Not Destiny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began is not where you have to stay.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801368"/>
            <a:ext cx="347472" cy="347472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Neuroplasticity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retains the capacity for change throughout life. New relational experiences can gradually reshape old patterns.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52928"/>
            <a:ext cx="347472" cy="347472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Earned Security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1089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shows that people can develop secure attachment in adulthood — even without a secure childhood. It is called earned security.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904488"/>
            <a:ext cx="347472" cy="347472"/>
          </a:xfrm>
          <a:prstGeom prst="ellipse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904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 as the First Step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recognizing a pattern begins to change your relationship with it. You are already doing this work by being here.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solidFill>
            <a:srgbClr val="EDE0DC"/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SUMMARY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54864" cy="5029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Now Know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8321040" cy="621792"/>
          </a:xfrm>
          <a:prstGeom prst="rect">
            <a:avLst/>
          </a:prstGeom>
          <a:solidFill>
            <a:srgbClr val="F4EFEA"/>
          </a:solidFill>
          <a:ln w="6350">
            <a:solidFill>
              <a:srgbClr val="EDE0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54864" cy="62179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Attachment theory was founded by Bowlby and expanded by Ainsworth, Main, and others — it is one of the most researched frameworks in developmental psychology.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75688"/>
            <a:ext cx="54864" cy="62179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7568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Your brain built a relational blueprint in your earliest years — the internal working model — that shapes how you see yourself, others, and the world.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825496"/>
            <a:ext cx="8321040" cy="621792"/>
          </a:xfrm>
          <a:prstGeom prst="rect">
            <a:avLst/>
          </a:prstGeom>
          <a:solidFill>
            <a:srgbClr val="F4EFEA"/>
          </a:solidFill>
          <a:ln w="6350">
            <a:solidFill>
              <a:srgbClr val="EDE0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825496"/>
            <a:ext cx="54864" cy="62179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Attachment behaviors are biological survival adaptations, not character flaws or personality traits.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575304"/>
            <a:ext cx="8321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DE0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575304"/>
            <a:ext cx="54864" cy="62179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7530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Strange Situation revealed that infants adapt their behavior to whatever caregiving environment they are in — and those adaptations persist.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325112"/>
            <a:ext cx="8321040" cy="621792"/>
          </a:xfrm>
          <a:prstGeom prst="rect">
            <a:avLst/>
          </a:prstGeom>
          <a:solidFill>
            <a:srgbClr val="F4EFEA"/>
          </a:solidFill>
          <a:ln w="6350">
            <a:solidFill>
              <a:srgbClr val="EDE0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4325112"/>
            <a:ext cx="54864" cy="621792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32511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Attachment is not destiny. Awareness, new relationships, and intentional growth can create earned security at any age.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Science &amp; Development  |  Module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A3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D1C8BF">
              <a:alpha val="15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EDE0DC">
              <a:alpha val="12000"/>
            </a:srgbClr>
          </a:solidFill>
          <a:ln w="12700">
            <a:solidFill>
              <a:srgbClr val="EDE0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Nervous System &amp;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Survival Strategies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5029200" cy="36576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next module, we move beneath the mind and into the body — exploring how your nervous system learned to protect you in relationship, and what that protection costs you today.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Polyvagal Theory  ·  Survival States  ·  The Regulated Nervous System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0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D1C8BF">
              <a:alpha val="20000"/>
            </a:srgbClr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 breath.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just explored matters.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A3F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doing meaningful work.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114800" cy="45720"/>
          </a:xfrm>
          <a:prstGeom prst="rect">
            <a:avLst/>
          </a:prstGeom>
          <a:solidFill>
            <a:srgbClr val="D1C8BF"/>
          </a:solidFill>
          <a:ln w="12700">
            <a:solidFill>
              <a:srgbClr val="D1C8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803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where you came from is not about blame.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8A7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about finally being free to choose something different.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to your worksheet — sit with what surfaced. You are safe here.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D1C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GRACEFULLY REDEFINED  |  WELLNESS CONNECTION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Attachment Science &amp; Development</dc:title>
  <dc:subject>PptxGenJS Presentation</dc:subject>
  <dc:creator>Gracefully Redefined Counseling and Wellness</dc:creator>
  <cp:lastModifiedBy>Gracefully Redefined Counseling and Wellness</cp:lastModifiedBy>
  <cp:revision>1</cp:revision>
  <dcterms:created xsi:type="dcterms:W3CDTF">2026-03-05T19:05:59Z</dcterms:created>
  <dcterms:modified xsi:type="dcterms:W3CDTF">2026-03-05T19:05:59Z</dcterms:modified>
</cp:coreProperties>
</file>